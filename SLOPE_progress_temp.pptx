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07"/>
    <p:restoredTop sz="97030"/>
  </p:normalViewPr>
  <p:slideViewPr>
    <p:cSldViewPr snapToGrid="0">
      <p:cViewPr varScale="1">
        <p:scale>
          <a:sx n="151" d="100"/>
          <a:sy n="151" d="100"/>
        </p:scale>
        <p:origin x="20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0F9E-040F-921D-6849-83EABB199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3C43E-03EB-7B2B-0E2C-18DC06CBD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1FC29-E302-BA3B-9BDA-D3BB60DC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E86FB-1516-CD28-5368-BCCE1C3DC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3B7E0-83F3-252D-B5EA-919EF1F35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95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E8CF0-C5E5-D3A2-75D6-3A99206DE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3DE74-16BE-A338-66C1-36B7BBCE6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1A518-DA26-02C5-131B-81E7DF501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56C48-C5C3-3874-FFF8-157DE9F1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73108-850B-0880-8443-C21515CC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74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C3F0-03E1-033A-105B-985ACAB72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D099B-6280-EE95-55BF-B23A6D437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FD3DA-1F3D-B937-6D06-AEBE1E48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3CB33-262C-24D4-BFBB-2C3F6CE5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A3652-E4B3-3D98-8D62-F66B0095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2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159E9-EC18-D2E1-2A4D-16EFD34A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AF6B6-DAEA-7095-8AA1-A7516AE5A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24C37-2B88-4C0D-5535-8F94E4984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722C7-F6A3-4B84-9DE8-933A59BD2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E592C-923A-711C-2EA4-512652A00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C61C0-4030-2B4F-A4EB-326E7E6A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06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13E4-E28B-00B1-2451-E41F8BED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56CE6-1EED-8C58-3E77-2588664CA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EB36F-C65B-3788-EB49-332C37507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5C90D-2A2E-08FC-4925-1CD0F881C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5ADDF-B947-BFE5-0784-7598A9472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231237-0986-B3E7-8F7B-4E5AB1FA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D2DA7C-5C8A-44EA-D90D-111806E8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CB97E6-6457-8577-CED5-DBEB9738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9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0598-E5FC-C75D-C697-087DCF9E4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344134-5318-8B72-2BA1-585C8022B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4A1EE6-6116-E68F-2C5D-EDF757D7B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8D8DA-D444-B553-3822-511C5B41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67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077DB0-CF3D-C9A6-23EE-CF93CDBD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8F7095-9D85-B3FC-0784-86EEC219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83AF6-5AF4-C5FE-0247-5E01AD125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35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AE6B-2010-9977-A0D5-9EF8FDA7A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E598E-635E-C51B-B682-B6AD29DAE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9D7FA-029D-DD14-C508-393D70391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B5A2E-16E8-9B87-6FF2-5D0CC27F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FCF64-19F3-8F72-DCDD-A219C8CB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171C5-60A3-4022-28D1-AD8B7DF6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27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C2B2-6BD5-C673-3DC7-52193357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6ABE45-A3A7-8A71-DF68-58C6C98B14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29B93-502A-E9B5-56DB-30CC38660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38B45-1E94-2073-A6D8-915DCF53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53FC7-7894-FB6D-6AEF-F74D8ABA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942F1-2B2B-7B65-DB21-5FEA9879B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54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729C9-9BF5-CF38-0AFA-81DA31970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1FB8B-CEB0-FC7F-3728-639F6F76D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896C8-E755-93EF-4D31-72C3CEA64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9A473-2DB1-2E43-C56C-147C53357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CADBF-E3E2-38B8-7C74-1F4642C4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8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E5E74-0964-F149-5F8F-520BC6E89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0AC08-18F7-9093-969D-74B2FF0A7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6631D-3C28-0905-3E75-F01E782A0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2550F-4810-5AD6-7E1E-3267ABD8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64330-33F7-EEB1-CC1D-35EA4DA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0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B45CAB-DF88-813D-5B1D-59076621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B1632-B86F-9F5B-AE76-6304E4386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774D-A980-20B8-38C9-EB6152C7E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5186-4226-4D81-EA5F-71E61B6C8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E3C73-3EE3-12C9-D31C-512608DC7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4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6CE90-4FDA-C674-368E-5C76800C26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SLOPE fun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59979-9059-CF46-C521-D4209C84E4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27Feb2024</a:t>
            </a:r>
          </a:p>
        </p:txBody>
      </p:sp>
    </p:spTree>
    <p:extLst>
      <p:ext uri="{BB962C8B-B14F-4D97-AF65-F5344CB8AC3E}">
        <p14:creationId xmlns:p14="http://schemas.microsoft.com/office/powerpoint/2010/main" val="1664312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3EAF-FBA2-68E8-79DD-C382A0FA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fun – Dan and Clayton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61697-3712-8177-B8B1-E4493C022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PPCA</a:t>
            </a:r>
          </a:p>
          <a:p>
            <a:pPr lvl="1"/>
            <a:r>
              <a:rPr lang="en-US" dirty="0"/>
              <a:t>SPLS-DA</a:t>
            </a:r>
          </a:p>
          <a:p>
            <a:endParaRPr lang="en-US" dirty="0"/>
          </a:p>
          <a:p>
            <a:r>
              <a:rPr lang="en-US" dirty="0"/>
              <a:t>Additional text on why expert mentor chose which model</a:t>
            </a:r>
          </a:p>
          <a:p>
            <a:r>
              <a:rPr lang="en-US" dirty="0"/>
              <a:t>Some day: Generalize for regression response</a:t>
            </a:r>
          </a:p>
        </p:txBody>
      </p:sp>
    </p:spTree>
    <p:extLst>
      <p:ext uri="{BB962C8B-B14F-4D97-AF65-F5344CB8AC3E}">
        <p14:creationId xmlns:p14="http://schemas.microsoft.com/office/powerpoint/2010/main" val="147956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2A1D-AD04-A5D3-C2D0-B12304F7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85875" cy="1325563"/>
          </a:xfrm>
        </p:spPr>
        <p:txBody>
          <a:bodyPr>
            <a:normAutofit/>
          </a:bodyPr>
          <a:lstStyle/>
          <a:p>
            <a:r>
              <a:rPr lang="en-US" dirty="0"/>
              <a:t>Backend requests from RR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E060D-6DE1-DD5E-2975-406F1463C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0025"/>
            <a:ext cx="8932333" cy="50228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More subfunctions for better task isolation/access </a:t>
            </a:r>
          </a:p>
          <a:p>
            <a:pPr lvl="1"/>
            <a:r>
              <a:rPr lang="en-US" dirty="0"/>
              <a:t>e.g., can’t call tuning results </a:t>
            </a:r>
            <a:r>
              <a:rPr lang="en-US" dirty="0" err="1"/>
              <a:t>rn</a:t>
            </a:r>
            <a:r>
              <a:rPr lang="en-US" dirty="0"/>
              <a:t> from supervised</a:t>
            </a:r>
          </a:p>
          <a:p>
            <a:r>
              <a:rPr lang="en-US" dirty="0"/>
              <a:t>Allow specification of folds to happen outside the model training functions (we should be able to tell the users ahead of time what samples are in which fold)</a:t>
            </a:r>
          </a:p>
          <a:p>
            <a:r>
              <a:rPr lang="en-US" dirty="0"/>
              <a:t>Wonky lassos</a:t>
            </a:r>
          </a:p>
          <a:p>
            <a:r>
              <a:rPr lang="en-US" dirty="0"/>
              <a:t>Plots break if </a:t>
            </a:r>
            <a:r>
              <a:rPr lang="en-US" dirty="0" err="1"/>
              <a:t>nTest</a:t>
            </a:r>
            <a:r>
              <a:rPr lang="en-US" dirty="0"/>
              <a:t> = 0 (no holdout)</a:t>
            </a:r>
          </a:p>
          <a:p>
            <a:pPr lvl="1"/>
            <a:r>
              <a:rPr lang="en-US" dirty="0"/>
              <a:t>Appears to be fixed, double check if new results are from means across cross validation?  </a:t>
            </a:r>
          </a:p>
          <a:p>
            <a:r>
              <a:rPr lang="en-US" dirty="0"/>
              <a:t>Update to variable importance and normal fit – can’t get  a reduced model in </a:t>
            </a:r>
            <a:r>
              <a:rPr lang="en-US" dirty="0" err="1"/>
              <a:t>variable_importance</a:t>
            </a:r>
            <a:r>
              <a:rPr lang="en-US" dirty="0"/>
              <a:t>, can’t get variable importance in fit() – can’t we make one function where variable importance is always returned and reduction is an option?</a:t>
            </a:r>
          </a:p>
          <a:p>
            <a:r>
              <a:rPr lang="en-US" dirty="0"/>
              <a:t>Add argument for seed for consistent fun</a:t>
            </a:r>
          </a:p>
          <a:p>
            <a:r>
              <a:rPr lang="en-US" dirty="0"/>
              <a:t>Recommendation function for unsupervised </a:t>
            </a:r>
            <a:r>
              <a:rPr lang="en-US" dirty="0" err="1"/>
              <a:t>nclust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143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EBE2-243B-20DD-353C-234A8B764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E1316-80DC-7453-35F2-7F15ABFA6500}"/>
              </a:ext>
            </a:extLst>
          </p:cNvPr>
          <p:cNvSpPr/>
          <p:nvPr/>
        </p:nvSpPr>
        <p:spPr>
          <a:xfrm>
            <a:off x="4165383" y="2583006"/>
            <a:ext cx="1854437" cy="456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Fold evaluation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489CD-76CA-A77E-E098-B92006BDF637}"/>
              </a:ext>
            </a:extLst>
          </p:cNvPr>
          <p:cNvSpPr/>
          <p:nvPr/>
        </p:nvSpPr>
        <p:spPr>
          <a:xfrm>
            <a:off x="4458788" y="3127815"/>
            <a:ext cx="1854437" cy="456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252F33-7AA6-AF92-5778-571E32D22546}"/>
              </a:ext>
            </a:extLst>
          </p:cNvPr>
          <p:cNvSpPr/>
          <p:nvPr/>
        </p:nvSpPr>
        <p:spPr>
          <a:xfrm>
            <a:off x="4765012" y="3672624"/>
            <a:ext cx="2079476" cy="1665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HP tuning, unless each hyperparameter is specified for tuning or not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CC0BD-6009-FA68-E8B6-F35708CC0504}"/>
              </a:ext>
            </a:extLst>
          </p:cNvPr>
          <p:cNvSpPr txBox="1"/>
          <p:nvPr/>
        </p:nvSpPr>
        <p:spPr>
          <a:xfrm>
            <a:off x="4058063" y="1527938"/>
            <a:ext cx="3539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selects training/testing/validation structure</a:t>
            </a:r>
          </a:p>
          <a:p>
            <a:r>
              <a:rPr lang="en-US" dirty="0"/>
              <a:t>Can run fold evaluation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3526F-BE6D-3CAF-2B42-D364CC6EDE5B}"/>
              </a:ext>
            </a:extLst>
          </p:cNvPr>
          <p:cNvSpPr txBox="1"/>
          <p:nvPr/>
        </p:nvSpPr>
        <p:spPr>
          <a:xfrm>
            <a:off x="452930" y="1518813"/>
            <a:ext cx="2785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selects if they want robustness to new data and hyperparameter excitement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2EB8DB-ED2B-AC73-A4C7-69925FC2CB44}"/>
              </a:ext>
            </a:extLst>
          </p:cNvPr>
          <p:cNvSpPr/>
          <p:nvPr/>
        </p:nvSpPr>
        <p:spPr>
          <a:xfrm>
            <a:off x="615297" y="2610633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HP tuning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7D90A80-E1FB-C68D-C70F-D8365C9EE8FA}"/>
              </a:ext>
            </a:extLst>
          </p:cNvPr>
          <p:cNvSpPr/>
          <p:nvPr/>
        </p:nvSpPr>
        <p:spPr>
          <a:xfrm>
            <a:off x="615297" y="4038620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values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677B87E-CAC4-FDBB-A6F1-6E4D841A1F8C}"/>
              </a:ext>
            </a:extLst>
          </p:cNvPr>
          <p:cNvSpPr/>
          <p:nvPr/>
        </p:nvSpPr>
        <p:spPr>
          <a:xfrm>
            <a:off x="615297" y="5373608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 values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70AC41-5B76-0D64-2684-F75B709D2EE7}"/>
              </a:ext>
            </a:extLst>
          </p:cNvPr>
          <p:cNvSpPr txBox="1"/>
          <p:nvPr/>
        </p:nvSpPr>
        <p:spPr>
          <a:xfrm>
            <a:off x="1278417" y="3448131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536C7-4A60-A5FB-4555-4AF0288DAF0D}"/>
              </a:ext>
            </a:extLst>
          </p:cNvPr>
          <p:cNvSpPr txBox="1"/>
          <p:nvPr/>
        </p:nvSpPr>
        <p:spPr>
          <a:xfrm>
            <a:off x="1278417" y="4835786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A00D94-1920-1A94-026E-2858230D953A}"/>
              </a:ext>
            </a:extLst>
          </p:cNvPr>
          <p:cNvSpPr txBox="1"/>
          <p:nvPr/>
        </p:nvSpPr>
        <p:spPr>
          <a:xfrm>
            <a:off x="7840064" y="288025"/>
            <a:ext cx="4018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not using default values, user picks </a:t>
            </a:r>
            <a:r>
              <a:rPr lang="en-US" dirty="0" err="1"/>
              <a:t>Hps</a:t>
            </a:r>
            <a:r>
              <a:rPr lang="en-US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BCE068-1C73-8B72-BD90-231AAA7452ED}"/>
              </a:ext>
            </a:extLst>
          </p:cNvPr>
          <p:cNvSpPr txBox="1"/>
          <p:nvPr/>
        </p:nvSpPr>
        <p:spPr>
          <a:xfrm>
            <a:off x="2397788" y="4066874"/>
            <a:ext cx="1682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Must calculate all default </a:t>
            </a:r>
            <a:r>
              <a:rPr lang="en-US" dirty="0" err="1"/>
              <a:t>hps</a:t>
            </a:r>
            <a:r>
              <a:rPr lang="en-US" dirty="0"/>
              <a:t> for the data for fold eval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D98A70-4AA1-CE89-3883-06BF4673B3A5}"/>
              </a:ext>
            </a:extLst>
          </p:cNvPr>
          <p:cNvSpPr txBox="1"/>
          <p:nvPr/>
        </p:nvSpPr>
        <p:spPr>
          <a:xfrm>
            <a:off x="2397788" y="5412216"/>
            <a:ext cx="1682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Must calculate all default </a:t>
            </a:r>
            <a:r>
              <a:rPr lang="en-US" dirty="0" err="1"/>
              <a:t>hps</a:t>
            </a:r>
            <a:r>
              <a:rPr lang="en-US" dirty="0"/>
              <a:t> for the data for fold eval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3F0598-F989-3D0C-5DB3-21756311D4A2}"/>
              </a:ext>
            </a:extLst>
          </p:cNvPr>
          <p:cNvSpPr txBox="1"/>
          <p:nvPr/>
        </p:nvSpPr>
        <p:spPr>
          <a:xfrm>
            <a:off x="2380607" y="2284294"/>
            <a:ext cx="15503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Might not reflect the range of hp user wants to tune for fold eval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60562E-F64F-EDB4-4220-3175805DB7DE}"/>
              </a:ext>
            </a:extLst>
          </p:cNvPr>
          <p:cNvSpPr/>
          <p:nvPr/>
        </p:nvSpPr>
        <p:spPr>
          <a:xfrm>
            <a:off x="4079924" y="2485818"/>
            <a:ext cx="3367043" cy="305079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ED492D-7C99-2B54-98AE-406B2C7B408C}"/>
              </a:ext>
            </a:extLst>
          </p:cNvPr>
          <p:cNvSpPr txBox="1"/>
          <p:nvPr/>
        </p:nvSpPr>
        <p:spPr>
          <a:xfrm>
            <a:off x="5974427" y="5463704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function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E561FF7-A8DA-9FE5-0B38-18C95600F300}"/>
              </a:ext>
            </a:extLst>
          </p:cNvPr>
          <p:cNvSpPr/>
          <p:nvPr/>
        </p:nvSpPr>
        <p:spPr>
          <a:xfrm>
            <a:off x="7746762" y="2220441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 values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0A6D15-A797-65E3-B236-18B732DEDA9F}"/>
              </a:ext>
            </a:extLst>
          </p:cNvPr>
          <p:cNvSpPr txBox="1"/>
          <p:nvPr/>
        </p:nvSpPr>
        <p:spPr>
          <a:xfrm>
            <a:off x="8409882" y="294949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9C17E15-C5F5-7111-81EF-74C0897614F2}"/>
              </a:ext>
            </a:extLst>
          </p:cNvPr>
          <p:cNvSpPr/>
          <p:nvPr/>
        </p:nvSpPr>
        <p:spPr>
          <a:xfrm>
            <a:off x="7746762" y="3411094"/>
            <a:ext cx="1743342" cy="98183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Which </a:t>
            </a:r>
            <a:r>
              <a:rPr lang="en-US" dirty="0" err="1"/>
              <a:t>hps</a:t>
            </a:r>
            <a:r>
              <a:rPr lang="en-US" dirty="0"/>
              <a:t> to tune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1924B6-73D7-F21F-B226-A176CDB4C363}"/>
              </a:ext>
            </a:extLst>
          </p:cNvPr>
          <p:cNvSpPr txBox="1"/>
          <p:nvPr/>
        </p:nvSpPr>
        <p:spPr>
          <a:xfrm>
            <a:off x="9576846" y="3109295"/>
            <a:ext cx="16821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Must calculate all default </a:t>
            </a:r>
            <a:r>
              <a:rPr lang="en-US" dirty="0" err="1"/>
              <a:t>hps</a:t>
            </a:r>
            <a:r>
              <a:rPr lang="en-US" dirty="0"/>
              <a:t> for the </a:t>
            </a:r>
            <a:r>
              <a:rPr lang="en-US" dirty="0" err="1"/>
              <a:t>hps</a:t>
            </a:r>
            <a:r>
              <a:rPr lang="en-US" dirty="0"/>
              <a:t> not being tuned  for run model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B512C8-0450-CCD3-3302-D3B1CE6F955A}"/>
              </a:ext>
            </a:extLst>
          </p:cNvPr>
          <p:cNvSpPr txBox="1"/>
          <p:nvPr/>
        </p:nvSpPr>
        <p:spPr>
          <a:xfrm>
            <a:off x="7746762" y="4805538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model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A162EC-B55A-4FA4-6CB8-36CAD06E712B}"/>
              </a:ext>
            </a:extLst>
          </p:cNvPr>
          <p:cNvSpPr/>
          <p:nvPr/>
        </p:nvSpPr>
        <p:spPr>
          <a:xfrm>
            <a:off x="8261462" y="5570031"/>
            <a:ext cx="1375746" cy="232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 model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630736-1870-4CC1-10B8-0CA1913C98A6}"/>
              </a:ext>
            </a:extLst>
          </p:cNvPr>
          <p:cNvSpPr/>
          <p:nvPr/>
        </p:nvSpPr>
        <p:spPr>
          <a:xfrm>
            <a:off x="9109816" y="5826464"/>
            <a:ext cx="2633703" cy="725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HP tuning, unless each hyperparameter is specified for tuning or not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3ADB9C-548C-C920-BA28-439700124884}"/>
              </a:ext>
            </a:extLst>
          </p:cNvPr>
          <p:cNvSpPr/>
          <p:nvPr/>
        </p:nvSpPr>
        <p:spPr>
          <a:xfrm>
            <a:off x="7660020" y="4706892"/>
            <a:ext cx="4466462" cy="2151108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AFBE9E-5FCF-80C8-5822-E7DBA78800F8}"/>
              </a:ext>
            </a:extLst>
          </p:cNvPr>
          <p:cNvSpPr/>
          <p:nvPr/>
        </p:nvSpPr>
        <p:spPr>
          <a:xfrm>
            <a:off x="306554" y="1454582"/>
            <a:ext cx="3601958" cy="5185500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273DC1-853B-AD21-85EC-A534E422D9B7}"/>
              </a:ext>
            </a:extLst>
          </p:cNvPr>
          <p:cNvSpPr/>
          <p:nvPr/>
        </p:nvSpPr>
        <p:spPr>
          <a:xfrm>
            <a:off x="3985827" y="1454582"/>
            <a:ext cx="3601958" cy="5403418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D06DB1-E112-6445-4764-C181D84C8B4B}"/>
              </a:ext>
            </a:extLst>
          </p:cNvPr>
          <p:cNvSpPr/>
          <p:nvPr/>
        </p:nvSpPr>
        <p:spPr>
          <a:xfrm>
            <a:off x="7660020" y="217918"/>
            <a:ext cx="4378867" cy="4396710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527F2E-1C4F-BABF-4952-145E62A048F9}"/>
              </a:ext>
            </a:extLst>
          </p:cNvPr>
          <p:cNvSpPr/>
          <p:nvPr/>
        </p:nvSpPr>
        <p:spPr>
          <a:xfrm>
            <a:off x="7913406" y="5273516"/>
            <a:ext cx="3972040" cy="136656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891F01-92E7-FA08-019E-3594F1D19FB7}"/>
              </a:ext>
            </a:extLst>
          </p:cNvPr>
          <p:cNvSpPr txBox="1"/>
          <p:nvPr/>
        </p:nvSpPr>
        <p:spPr>
          <a:xfrm>
            <a:off x="10162638" y="4890509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function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B9533D7-F54F-CF8D-9EEC-D1CDA7938CA5}"/>
              </a:ext>
            </a:extLst>
          </p:cNvPr>
          <p:cNvSpPr/>
          <p:nvPr/>
        </p:nvSpPr>
        <p:spPr>
          <a:xfrm>
            <a:off x="7771219" y="870764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values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BB4D89-F8C1-5487-8434-17B6D9623175}"/>
              </a:ext>
            </a:extLst>
          </p:cNvPr>
          <p:cNvSpPr txBox="1"/>
          <p:nvPr/>
        </p:nvSpPr>
        <p:spPr>
          <a:xfrm>
            <a:off x="8409882" y="162798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CC84AE-5D80-9D0B-B7D1-21538CCFA214}"/>
              </a:ext>
            </a:extLst>
          </p:cNvPr>
          <p:cNvSpPr txBox="1"/>
          <p:nvPr/>
        </p:nvSpPr>
        <p:spPr>
          <a:xfrm>
            <a:off x="9703069" y="756003"/>
            <a:ext cx="1682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Must calculate all default </a:t>
            </a:r>
            <a:r>
              <a:rPr lang="en-US" dirty="0" err="1"/>
              <a:t>hps</a:t>
            </a:r>
            <a:r>
              <a:rPr lang="en-US" dirty="0"/>
              <a:t> for the data for run model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AC7B81-0D79-C580-682B-5ECA7B85315D}"/>
              </a:ext>
            </a:extLst>
          </p:cNvPr>
          <p:cNvSpPr/>
          <p:nvPr/>
        </p:nvSpPr>
        <p:spPr>
          <a:xfrm>
            <a:off x="7955017" y="5303919"/>
            <a:ext cx="2052108" cy="232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Supervised method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8800586-BE1A-D69E-0FAB-AEBD1B4FA6D5}"/>
              </a:ext>
            </a:extLst>
          </p:cNvPr>
          <p:cNvCxnSpPr>
            <a:cxnSpLocks/>
          </p:cNvCxnSpPr>
          <p:nvPr/>
        </p:nvCxnSpPr>
        <p:spPr>
          <a:xfrm flipV="1">
            <a:off x="4765012" y="5174870"/>
            <a:ext cx="174457" cy="65159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53F7DFD-CEFE-BE7A-D86E-1DCAB21389CE}"/>
              </a:ext>
            </a:extLst>
          </p:cNvPr>
          <p:cNvSpPr txBox="1"/>
          <p:nvPr/>
        </p:nvSpPr>
        <p:spPr>
          <a:xfrm>
            <a:off x="4058063" y="5834228"/>
            <a:ext cx="33468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always run when you don’t specify all the default tunings to *not* tune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0AFB8B-A229-EEAC-5555-06075EA72E13}"/>
              </a:ext>
            </a:extLst>
          </p:cNvPr>
          <p:cNvSpPr txBox="1"/>
          <p:nvPr/>
        </p:nvSpPr>
        <p:spPr>
          <a:xfrm>
            <a:off x="-48556" y="-18334"/>
            <a:ext cx="3988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 Eval not noted here, but applied after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B46EAA4-2911-2D15-DC14-10E6111CBA24}"/>
              </a:ext>
            </a:extLst>
          </p:cNvPr>
          <p:cNvCxnSpPr>
            <a:cxnSpLocks/>
          </p:cNvCxnSpPr>
          <p:nvPr/>
        </p:nvCxnSpPr>
        <p:spPr>
          <a:xfrm flipV="1">
            <a:off x="7229742" y="6295893"/>
            <a:ext cx="1880074" cy="82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453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EBE2-243B-20DD-353C-234A8B764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Requested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E1316-80DC-7453-35F2-7F15ABFA6500}"/>
              </a:ext>
            </a:extLst>
          </p:cNvPr>
          <p:cNvSpPr/>
          <p:nvPr/>
        </p:nvSpPr>
        <p:spPr>
          <a:xfrm>
            <a:off x="3599916" y="2841007"/>
            <a:ext cx="1854437" cy="456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Fold evaluation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489CD-76CA-A77E-E098-B92006BDF637}"/>
              </a:ext>
            </a:extLst>
          </p:cNvPr>
          <p:cNvSpPr/>
          <p:nvPr/>
        </p:nvSpPr>
        <p:spPr>
          <a:xfrm>
            <a:off x="3893321" y="3385816"/>
            <a:ext cx="1854437" cy="456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function isolated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CC0BD-6009-FA68-E8B6-F35708CC0504}"/>
              </a:ext>
            </a:extLst>
          </p:cNvPr>
          <p:cNvSpPr txBox="1"/>
          <p:nvPr/>
        </p:nvSpPr>
        <p:spPr>
          <a:xfrm>
            <a:off x="3477736" y="1527938"/>
            <a:ext cx="3539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selects training/testing/validation structure</a:t>
            </a:r>
          </a:p>
          <a:p>
            <a:r>
              <a:rPr lang="en-US" dirty="0"/>
              <a:t>Can run fold evaluation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3526F-BE6D-3CAF-2B42-D364CC6EDE5B}"/>
              </a:ext>
            </a:extLst>
          </p:cNvPr>
          <p:cNvSpPr txBox="1"/>
          <p:nvPr/>
        </p:nvSpPr>
        <p:spPr>
          <a:xfrm>
            <a:off x="452930" y="1518813"/>
            <a:ext cx="2785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selects if they want robustness to new data and hyperparameter excitement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2EB8DB-ED2B-AC73-A4C7-69925FC2CB44}"/>
              </a:ext>
            </a:extLst>
          </p:cNvPr>
          <p:cNvSpPr/>
          <p:nvPr/>
        </p:nvSpPr>
        <p:spPr>
          <a:xfrm>
            <a:off x="615297" y="2610633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HP tuning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7D90A80-E1FB-C68D-C70F-D8365C9EE8FA}"/>
              </a:ext>
            </a:extLst>
          </p:cNvPr>
          <p:cNvSpPr/>
          <p:nvPr/>
        </p:nvSpPr>
        <p:spPr>
          <a:xfrm>
            <a:off x="615297" y="4038620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values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677B87E-CAC4-FDBB-A6F1-6E4D841A1F8C}"/>
              </a:ext>
            </a:extLst>
          </p:cNvPr>
          <p:cNvSpPr/>
          <p:nvPr/>
        </p:nvSpPr>
        <p:spPr>
          <a:xfrm>
            <a:off x="615297" y="5373608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 values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70AC41-5B76-0D64-2684-F75B709D2EE7}"/>
              </a:ext>
            </a:extLst>
          </p:cNvPr>
          <p:cNvSpPr txBox="1"/>
          <p:nvPr/>
        </p:nvSpPr>
        <p:spPr>
          <a:xfrm>
            <a:off x="1278417" y="3448131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536C7-4A60-A5FB-4555-4AF0288DAF0D}"/>
              </a:ext>
            </a:extLst>
          </p:cNvPr>
          <p:cNvSpPr txBox="1"/>
          <p:nvPr/>
        </p:nvSpPr>
        <p:spPr>
          <a:xfrm>
            <a:off x="1278417" y="4835786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A00D94-1920-1A94-026E-2858230D953A}"/>
              </a:ext>
            </a:extLst>
          </p:cNvPr>
          <p:cNvSpPr txBox="1"/>
          <p:nvPr/>
        </p:nvSpPr>
        <p:spPr>
          <a:xfrm>
            <a:off x="7333848" y="816592"/>
            <a:ext cx="2317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not using default </a:t>
            </a:r>
          </a:p>
          <a:p>
            <a:r>
              <a:rPr lang="en-US" dirty="0"/>
              <a:t>values, user picks </a:t>
            </a:r>
            <a:r>
              <a:rPr lang="en-US" dirty="0" err="1"/>
              <a:t>Hps</a:t>
            </a:r>
            <a:r>
              <a:rPr lang="en-US" dirty="0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60562E-F64F-EDB4-4220-3175805DB7DE}"/>
              </a:ext>
            </a:extLst>
          </p:cNvPr>
          <p:cNvSpPr/>
          <p:nvPr/>
        </p:nvSpPr>
        <p:spPr>
          <a:xfrm>
            <a:off x="3514457" y="2743819"/>
            <a:ext cx="3367043" cy="120123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E561FF7-A8DA-9FE5-0B38-18C95600F300}"/>
              </a:ext>
            </a:extLst>
          </p:cNvPr>
          <p:cNvSpPr/>
          <p:nvPr/>
        </p:nvSpPr>
        <p:spPr>
          <a:xfrm>
            <a:off x="7240546" y="2749008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 values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0A6D15-A797-65E3-B236-18B732DEDA9F}"/>
              </a:ext>
            </a:extLst>
          </p:cNvPr>
          <p:cNvSpPr txBox="1"/>
          <p:nvPr/>
        </p:nvSpPr>
        <p:spPr>
          <a:xfrm>
            <a:off x="7903666" y="347806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9C17E15-C5F5-7111-81EF-74C0897614F2}"/>
              </a:ext>
            </a:extLst>
          </p:cNvPr>
          <p:cNvSpPr/>
          <p:nvPr/>
        </p:nvSpPr>
        <p:spPr>
          <a:xfrm>
            <a:off x="7240546" y="3939661"/>
            <a:ext cx="1743342" cy="98183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Which </a:t>
            </a:r>
            <a:r>
              <a:rPr lang="en-US" dirty="0" err="1"/>
              <a:t>hps</a:t>
            </a:r>
            <a:r>
              <a:rPr lang="en-US" dirty="0"/>
              <a:t> to tune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AFBE9E-5FCF-80C8-5822-E7DBA78800F8}"/>
              </a:ext>
            </a:extLst>
          </p:cNvPr>
          <p:cNvSpPr/>
          <p:nvPr/>
        </p:nvSpPr>
        <p:spPr>
          <a:xfrm>
            <a:off x="306554" y="1454582"/>
            <a:ext cx="2938931" cy="5185500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273DC1-853B-AD21-85EC-A534E422D9B7}"/>
              </a:ext>
            </a:extLst>
          </p:cNvPr>
          <p:cNvSpPr/>
          <p:nvPr/>
        </p:nvSpPr>
        <p:spPr>
          <a:xfrm>
            <a:off x="3405500" y="1454582"/>
            <a:ext cx="3601958" cy="2724311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D06DB1-E112-6445-4764-C181D84C8B4B}"/>
              </a:ext>
            </a:extLst>
          </p:cNvPr>
          <p:cNvSpPr/>
          <p:nvPr/>
        </p:nvSpPr>
        <p:spPr>
          <a:xfrm>
            <a:off x="7153805" y="746485"/>
            <a:ext cx="2415472" cy="4396710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B9533D7-F54F-CF8D-9EEC-D1CDA7938CA5}"/>
              </a:ext>
            </a:extLst>
          </p:cNvPr>
          <p:cNvSpPr/>
          <p:nvPr/>
        </p:nvSpPr>
        <p:spPr>
          <a:xfrm>
            <a:off x="7265003" y="1399331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values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BB4D89-F8C1-5487-8434-17B6D9623175}"/>
              </a:ext>
            </a:extLst>
          </p:cNvPr>
          <p:cNvSpPr txBox="1"/>
          <p:nvPr/>
        </p:nvSpPr>
        <p:spPr>
          <a:xfrm>
            <a:off x="7903666" y="2156547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FBA401-306C-7E41-2A27-643ED02C2BC3}"/>
              </a:ext>
            </a:extLst>
          </p:cNvPr>
          <p:cNvSpPr/>
          <p:nvPr/>
        </p:nvSpPr>
        <p:spPr>
          <a:xfrm>
            <a:off x="10132014" y="2130928"/>
            <a:ext cx="1637944" cy="629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function isolated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D22E1A-07ED-E1A8-9019-EC3E1187E961}"/>
              </a:ext>
            </a:extLst>
          </p:cNvPr>
          <p:cNvSpPr/>
          <p:nvPr/>
        </p:nvSpPr>
        <p:spPr>
          <a:xfrm>
            <a:off x="10132014" y="2975479"/>
            <a:ext cx="1637944" cy="1122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Tuning function isolated (if called)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3D60F5-3279-4510-8C8B-0B532710D257}"/>
              </a:ext>
            </a:extLst>
          </p:cNvPr>
          <p:cNvSpPr/>
          <p:nvPr/>
        </p:nvSpPr>
        <p:spPr>
          <a:xfrm>
            <a:off x="9810571" y="746485"/>
            <a:ext cx="2252791" cy="5893597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8F7F97-F7D2-2E55-97EB-473FB5DD2EEB}"/>
              </a:ext>
            </a:extLst>
          </p:cNvPr>
          <p:cNvSpPr txBox="1"/>
          <p:nvPr/>
        </p:nvSpPr>
        <p:spPr>
          <a:xfrm>
            <a:off x="9831524" y="88470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model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DB0BF2-6783-D76F-C181-BB433DEB555E}"/>
              </a:ext>
            </a:extLst>
          </p:cNvPr>
          <p:cNvSpPr txBox="1"/>
          <p:nvPr/>
        </p:nvSpPr>
        <p:spPr>
          <a:xfrm>
            <a:off x="3486779" y="5553480"/>
            <a:ext cx="58506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HP specification only needed where custom values are used;</a:t>
            </a:r>
          </a:p>
          <a:p>
            <a:r>
              <a:rPr lang="en-US" dirty="0"/>
              <a:t>No default calculations required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D69B36-51A4-A4B4-714E-5FB057AC613C}"/>
              </a:ext>
            </a:extLst>
          </p:cNvPr>
          <p:cNvSpPr txBox="1"/>
          <p:nvPr/>
        </p:nvSpPr>
        <p:spPr>
          <a:xfrm>
            <a:off x="3555045" y="4160226"/>
            <a:ext cx="229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Defaults are used here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5238086-B883-2B66-F66F-105CEA267876}"/>
              </a:ext>
            </a:extLst>
          </p:cNvPr>
          <p:cNvSpPr/>
          <p:nvPr/>
        </p:nvSpPr>
        <p:spPr>
          <a:xfrm>
            <a:off x="9889724" y="1518814"/>
            <a:ext cx="1637944" cy="470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Supervised method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BEEC8E-3DE4-AF42-5583-06649BC16CFE}"/>
              </a:ext>
            </a:extLst>
          </p:cNvPr>
          <p:cNvSpPr txBox="1"/>
          <p:nvPr/>
        </p:nvSpPr>
        <p:spPr>
          <a:xfrm>
            <a:off x="-48556" y="-18334"/>
            <a:ext cx="3988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 Eval not noted here, but applied after</a:t>
            </a:r>
          </a:p>
        </p:txBody>
      </p:sp>
    </p:spTree>
    <p:extLst>
      <p:ext uri="{BB962C8B-B14F-4D97-AF65-F5344CB8AC3E}">
        <p14:creationId xmlns:p14="http://schemas.microsoft.com/office/powerpoint/2010/main" val="1714935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7BBB-8EFB-7355-72AA-208D42E7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 end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E26FF-0C45-F52A-A5D1-6FDB250A8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Robustness</a:t>
            </a:r>
          </a:p>
          <a:p>
            <a:r>
              <a:rPr lang="en-US" dirty="0"/>
              <a:t>User friendly features</a:t>
            </a:r>
          </a:p>
          <a:p>
            <a:r>
              <a:rPr lang="en-US" dirty="0"/>
              <a:t>Bug fixes</a:t>
            </a:r>
          </a:p>
          <a:p>
            <a:r>
              <a:rPr lang="en-US" dirty="0"/>
              <a:t>Feature additions</a:t>
            </a:r>
          </a:p>
          <a:p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357107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78E97-7E10-E576-F66E-B3D26543C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991" y="133558"/>
            <a:ext cx="4391826" cy="298565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400" dirty="0"/>
              <a:t>Robustness</a:t>
            </a:r>
          </a:p>
          <a:p>
            <a:r>
              <a:rPr lang="en-US" dirty="0"/>
              <a:t>Run-throughs with no </a:t>
            </a:r>
            <a:r>
              <a:rPr lang="en-US" dirty="0" err="1"/>
              <a:t>fdata</a:t>
            </a:r>
            <a:endParaRPr lang="en-US" dirty="0"/>
          </a:p>
          <a:p>
            <a:r>
              <a:rPr lang="en-US" dirty="0" err="1"/>
              <a:t>Seqdata</a:t>
            </a:r>
            <a:r>
              <a:rPr lang="en-US" dirty="0"/>
              <a:t> run-through</a:t>
            </a:r>
          </a:p>
          <a:p>
            <a:r>
              <a:rPr lang="en-US" dirty="0"/>
              <a:t>All models run-through</a:t>
            </a:r>
          </a:p>
          <a:p>
            <a:r>
              <a:rPr lang="en-US" dirty="0"/>
              <a:t>More data run-through</a:t>
            </a:r>
          </a:p>
          <a:p>
            <a:r>
              <a:rPr lang="en-US" dirty="0"/>
              <a:t>Generalize for regression response</a:t>
            </a:r>
          </a:p>
          <a:p>
            <a:r>
              <a:rPr lang="en-US" dirty="0">
                <a:effectLst/>
                <a:latin typeface=".AppleSystemUIFontMonospaced"/>
              </a:rPr>
              <a:t>Handle conversion of 100% of molecules to 0 and 1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21B96-0D31-D465-6F9D-BF1ABA566B27}"/>
              </a:ext>
            </a:extLst>
          </p:cNvPr>
          <p:cNvSpPr txBox="1"/>
          <p:nvPr/>
        </p:nvSpPr>
        <p:spPr>
          <a:xfrm>
            <a:off x="145991" y="3126081"/>
            <a:ext cx="6297539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friendly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Populate help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Completion criteria so “Done” only appears when done by panel, tab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.AppleSystemUIFontMonospaced"/>
              </a:rPr>
              <a:t>Add trimming of sample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.AppleSystemUIFontMonospaced"/>
              </a:rPr>
              <a:t>Update welcome page text/glossary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.AppleSystemUIFontMonospaced"/>
              </a:rPr>
              <a:t>Req norm eval before "add” as applicable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.AppleSystemUIFontMonospaced"/>
              </a:rPr>
              <a:t>Time estimates for model if long &lt;- backburner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.AppleSystemUIFontMonospaced"/>
              </a:rPr>
              <a:t>K-means plots – get more hover info, most contributing PCA biomolecules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.AppleSystemUIFontMonospaced"/>
              </a:rPr>
              <a:t>More tool tips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.AppleSystemUIFontMonospaced"/>
              </a:rPr>
              <a:t>Progress pages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.AppleSystemUIFontMonospaced"/>
              </a:rPr>
              <a:t>Require missingness handling where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3F9C7-11D5-416D-54B0-0ECF2E367F80}"/>
              </a:ext>
            </a:extLst>
          </p:cNvPr>
          <p:cNvSpPr txBox="1"/>
          <p:nvPr/>
        </p:nvSpPr>
        <p:spPr>
          <a:xfrm>
            <a:off x="5335471" y="39605"/>
            <a:ext cx="59396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Bug fixes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.AppleSystemUIFontMonospaced"/>
              </a:rPr>
              <a:t>Normalization – remove error options where all data is complete or other weirdness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.AppleSystemUIFontMonospaced"/>
              </a:rPr>
              <a:t>Skip variable specifications if no f-data or </a:t>
            </a:r>
            <a:r>
              <a:rPr lang="en-US" dirty="0" err="1">
                <a:latin typeface=".AppleSystemUIFontMonospaced"/>
              </a:rPr>
              <a:t>e_meta</a:t>
            </a:r>
            <a:r>
              <a:rPr lang="en-US" dirty="0">
                <a:latin typeface=".AppleSystemUIFontMonospaced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.AppleSystemUIFontMonospaced"/>
              </a:rPr>
              <a:t>Expert mentor table overflow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Hclust</a:t>
            </a:r>
            <a:r>
              <a:rPr lang="en-US" dirty="0">
                <a:effectLst/>
              </a:rPr>
              <a:t> line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Double check defaults for all model hp settings</a:t>
            </a:r>
            <a:endParaRPr lang="en-US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CC0DBC-2AC2-5B31-ED7E-DBDE8EF3E1D8}"/>
              </a:ext>
            </a:extLst>
          </p:cNvPr>
          <p:cNvSpPr txBox="1"/>
          <p:nvPr/>
        </p:nvSpPr>
        <p:spPr>
          <a:xfrm>
            <a:off x="6443530" y="2682242"/>
            <a:ext cx="5529127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Feature additions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Parameter optimization plots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Peptide rollup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Recommendation function for </a:t>
            </a:r>
            <a:r>
              <a:rPr lang="en-US" dirty="0" err="1"/>
              <a:t>nclust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Move samples/biomolecules to other tab?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RVs with a level for models in case users </a:t>
            </a:r>
            <a:r>
              <a:rPr lang="en-US" dirty="0" err="1"/>
              <a:t>wanna</a:t>
            </a:r>
            <a:r>
              <a:rPr lang="en-US" dirty="0"/>
              <a:t> go back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For advanced users, allow different models for different hp tunings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Cap the number of new models users can 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 save and return to </a:t>
            </a:r>
            <a:r>
              <a:rPr lang="en-US" dirty="0" err="1"/>
              <a:t>expert_mentor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normalization – solidify in </a:t>
            </a:r>
            <a:r>
              <a:rPr lang="en-US" dirty="0" err="1"/>
              <a:t>pmartR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</a:t>
            </a:r>
            <a:r>
              <a:rPr lang="en-US" dirty="0" err="1"/>
              <a:t>spls</a:t>
            </a:r>
            <a:r>
              <a:rPr lang="en-US" dirty="0"/>
              <a:t> da -- Dan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554C6-C8B6-EBE3-A74D-AB97DE2FA49E}"/>
              </a:ext>
            </a:extLst>
          </p:cNvPr>
          <p:cNvSpPr txBox="1"/>
          <p:nvPr/>
        </p:nvSpPr>
        <p:spPr>
          <a:xfrm>
            <a:off x="10263499" y="2395496"/>
            <a:ext cx="15322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Multiprobe</a:t>
            </a:r>
          </a:p>
        </p:txBody>
      </p:sp>
    </p:spTree>
    <p:extLst>
      <p:ext uri="{BB962C8B-B14F-4D97-AF65-F5344CB8AC3E}">
        <p14:creationId xmlns:p14="http://schemas.microsoft.com/office/powerpoint/2010/main" val="1746479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A8F16-333C-BB37-5D34-431C7818B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Multiprobe fun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39EA-DF5D-EE0F-4A84-70DDC1A0D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Fixes to </a:t>
            </a:r>
            <a:r>
              <a:rPr lang="en-US" dirty="0" err="1"/>
              <a:t>Pmart</a:t>
            </a:r>
            <a:r>
              <a:rPr lang="en-US" dirty="0"/>
              <a:t> app</a:t>
            </a:r>
          </a:p>
          <a:p>
            <a:pPr lvl="1"/>
            <a:r>
              <a:rPr lang="en-US" dirty="0"/>
              <a:t>Issue up on </a:t>
            </a:r>
            <a:r>
              <a:rPr lang="en-US" dirty="0" err="1"/>
              <a:t>gitlab</a:t>
            </a:r>
            <a:endParaRPr lang="en-US" dirty="0"/>
          </a:p>
          <a:p>
            <a:pPr lvl="1"/>
            <a:r>
              <a:rPr lang="en-US" dirty="0"/>
              <a:t>May also incorporate ids for observers to make future </a:t>
            </a:r>
            <a:r>
              <a:rPr lang="en-US" dirty="0" err="1"/>
              <a:t>MultiProbe</a:t>
            </a:r>
            <a:r>
              <a:rPr lang="en-US" dirty="0"/>
              <a:t> merges smoother</a:t>
            </a:r>
          </a:p>
          <a:p>
            <a:r>
              <a:rPr lang="en-US" dirty="0"/>
              <a:t>Fixes to </a:t>
            </a:r>
            <a:r>
              <a:rPr lang="en-US" dirty="0" err="1"/>
              <a:t>pmartR</a:t>
            </a:r>
            <a:endParaRPr lang="en-US" dirty="0"/>
          </a:p>
          <a:p>
            <a:pPr lvl="1"/>
            <a:r>
              <a:rPr lang="en-US" dirty="0"/>
              <a:t>Remove requirement that </a:t>
            </a:r>
            <a:r>
              <a:rPr lang="en-US" dirty="0" err="1"/>
              <a:t>emeta_cname</a:t>
            </a:r>
            <a:r>
              <a:rPr lang="en-US" dirty="0"/>
              <a:t> and </a:t>
            </a:r>
            <a:r>
              <a:rPr lang="en-US" dirty="0" err="1"/>
              <a:t>edata_cname</a:t>
            </a:r>
            <a:r>
              <a:rPr lang="en-US" dirty="0"/>
              <a:t> pairing are unique</a:t>
            </a:r>
          </a:p>
          <a:p>
            <a:pPr lvl="1"/>
            <a:r>
              <a:rPr lang="en-US" dirty="0"/>
              <a:t>Make sure </a:t>
            </a:r>
            <a:r>
              <a:rPr lang="en-US" dirty="0" err="1"/>
              <a:t>protein_quant</a:t>
            </a:r>
            <a:r>
              <a:rPr lang="en-US" dirty="0"/>
              <a:t> accepts </a:t>
            </a:r>
            <a:r>
              <a:rPr lang="en-US" dirty="0" err="1"/>
              <a:t>bqquant</a:t>
            </a:r>
            <a:r>
              <a:rPr lang="en-US" dirty="0"/>
              <a:t> results – the fix above should address it</a:t>
            </a:r>
          </a:p>
          <a:p>
            <a:pPr lvl="1"/>
            <a:r>
              <a:rPr lang="en-US" dirty="0"/>
              <a:t>Put up an issue</a:t>
            </a:r>
          </a:p>
          <a:p>
            <a:r>
              <a:rPr lang="en-US" dirty="0"/>
              <a:t>Documentation</a:t>
            </a:r>
          </a:p>
          <a:p>
            <a:pPr lvl="1"/>
            <a:r>
              <a:rPr lang="en-US" dirty="0"/>
              <a:t>Do stuff</a:t>
            </a:r>
          </a:p>
          <a:p>
            <a:pPr lvl="1"/>
            <a:r>
              <a:rPr lang="en-US" dirty="0"/>
              <a:t>Chat with Clayton on app </a:t>
            </a:r>
            <a:r>
              <a:rPr lang="en-US" dirty="0" err="1"/>
              <a:t>runthrough</a:t>
            </a:r>
            <a:r>
              <a:rPr lang="en-US" dirty="0"/>
              <a:t> + screenshots</a:t>
            </a:r>
          </a:p>
          <a:p>
            <a:r>
              <a:rPr lang="en-US" dirty="0"/>
              <a:t>Mysterious disconnect error</a:t>
            </a:r>
          </a:p>
        </p:txBody>
      </p:sp>
    </p:spTree>
    <p:extLst>
      <p:ext uri="{BB962C8B-B14F-4D97-AF65-F5344CB8AC3E}">
        <p14:creationId xmlns:p14="http://schemas.microsoft.com/office/powerpoint/2010/main" val="1469259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16424</TotalTime>
  <Words>738</Words>
  <Application>Microsoft Macintosh PowerPoint</Application>
  <PresentationFormat>Widescreen</PresentationFormat>
  <Paragraphs>132</Paragraphs>
  <Slides>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.AppleSystemUIFontMonospaced</vt:lpstr>
      <vt:lpstr>Arial</vt:lpstr>
      <vt:lpstr>Calibri</vt:lpstr>
      <vt:lpstr>Calibri Light</vt:lpstr>
      <vt:lpstr>Office Theme</vt:lpstr>
      <vt:lpstr>SLOPE fun</vt:lpstr>
      <vt:lpstr>Backend fun – Dan and Clayton tasks</vt:lpstr>
      <vt:lpstr>Backend requests from RR</vt:lpstr>
      <vt:lpstr>Current structure</vt:lpstr>
      <vt:lpstr>Requested structure</vt:lpstr>
      <vt:lpstr>Front end tasks</vt:lpstr>
      <vt:lpstr>PowerPoint Presentation</vt:lpstr>
      <vt:lpstr>Multiprobe fun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SLOPE fun</dc:title>
  <dc:creator>Richardson, Rachel E</dc:creator>
  <cp:lastModifiedBy>Richardson, Rachel E</cp:lastModifiedBy>
  <cp:revision>28</cp:revision>
  <dcterms:created xsi:type="dcterms:W3CDTF">2024-02-20T18:28:41Z</dcterms:created>
  <dcterms:modified xsi:type="dcterms:W3CDTF">2024-03-05T23:52:52Z</dcterms:modified>
</cp:coreProperties>
</file>